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20"/>
  </p:notesMasterIdLst>
  <p:sldIdLst>
    <p:sldId id="256" r:id="rId2"/>
    <p:sldId id="257" r:id="rId3"/>
    <p:sldId id="266" r:id="rId4"/>
    <p:sldId id="267" r:id="rId5"/>
    <p:sldId id="268" r:id="rId6"/>
    <p:sldId id="270" r:id="rId7"/>
    <p:sldId id="269" r:id="rId8"/>
    <p:sldId id="272" r:id="rId9"/>
    <p:sldId id="273" r:id="rId10"/>
    <p:sldId id="274" r:id="rId11"/>
    <p:sldId id="271" r:id="rId12"/>
    <p:sldId id="265" r:id="rId13"/>
    <p:sldId id="262" r:id="rId14"/>
    <p:sldId id="259" r:id="rId15"/>
    <p:sldId id="260" r:id="rId16"/>
    <p:sldId id="261" r:id="rId17"/>
    <p:sldId id="263" r:id="rId18"/>
    <p:sldId id="264" r:id="rId19"/>
  </p:sldIdLst>
  <p:sldSz cx="9144000" cy="5143500" type="screen16x9"/>
  <p:notesSz cx="6858000" cy="9144000"/>
  <p:embeddedFontLst>
    <p:embeddedFont>
      <p:font typeface="Proxima Nova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4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" name="Google Shape;1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02a4f90b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Google Shape;23;g3f02a4f90b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02a4f90b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Google Shape;23;g3f02a4f90b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128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02a4f90b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02a4f90b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468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02a4f90b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02a4f90b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2625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02a4f90b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02a4f90b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1021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02a4f90b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02a4f90b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6614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02a4f90b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02a4f90b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8554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02a4f90b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02a4f90b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4895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02a4f90b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02a4f90b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033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02a4f90b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02a4f90b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4827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02a4f90b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02a4f90b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4312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02a4f90b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02a4f90b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02a4f90b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f02a4f90b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02a4f90b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f02a4f90b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02a4f90b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02a4f90b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02a4f90b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02a4f90b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02a4f90bc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02a4f90bc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>
  <p:cSld name="TITLE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25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25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5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5750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maging.cs.msu.ru/en/research/geology/lumenston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4.11159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603.1383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/>
        </p:nvSpPr>
        <p:spPr>
          <a:xfrm>
            <a:off x="1828753" y="1494183"/>
            <a:ext cx="2722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5302E0"/>
                </a:solidFill>
                <a:latin typeface="Proxima Nova"/>
                <a:ea typeface="Proxima Nova"/>
                <a:cs typeface="Proxima Nova"/>
                <a:sym typeface="Proxima Nova"/>
              </a:rPr>
              <a:t>ИТ-СОРЕВНОВАНИЕ</a:t>
            </a:r>
            <a:endParaRPr sz="2000" b="1">
              <a:solidFill>
                <a:srgbClr val="5302E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" name="Google Shape;18;p6"/>
          <p:cNvSpPr txBox="1"/>
          <p:nvPr/>
        </p:nvSpPr>
        <p:spPr>
          <a:xfrm>
            <a:off x="1828750" y="1834648"/>
            <a:ext cx="4984200" cy="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00FFBF"/>
                </a:solidFill>
                <a:latin typeface="Proxima Nova"/>
                <a:ea typeface="Proxima Nova"/>
                <a:cs typeface="Proxima Nova"/>
                <a:sym typeface="Proxima Nova"/>
              </a:rPr>
              <a:t>НОРНИКЕЛЬ</a:t>
            </a:r>
            <a:endParaRPr sz="4800" b="1">
              <a:solidFill>
                <a:srgbClr val="00FFB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" name="Google Shape;19;p6"/>
          <p:cNvSpPr txBox="1"/>
          <p:nvPr/>
        </p:nvSpPr>
        <p:spPr>
          <a:xfrm>
            <a:off x="1828750" y="2437123"/>
            <a:ext cx="5890200" cy="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5302E0"/>
                </a:solidFill>
                <a:latin typeface="Proxima Nova"/>
                <a:ea typeface="Proxima Nova"/>
                <a:cs typeface="Proxima Nova"/>
                <a:sym typeface="Proxima Nova"/>
              </a:rPr>
              <a:t>AI SCIENCE HACK</a:t>
            </a:r>
            <a:endParaRPr sz="4800" b="1">
              <a:solidFill>
                <a:srgbClr val="5302E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Google Shape;20;p6"/>
          <p:cNvSpPr/>
          <p:nvPr/>
        </p:nvSpPr>
        <p:spPr>
          <a:xfrm>
            <a:off x="1947550" y="3381750"/>
            <a:ext cx="2817900" cy="413700"/>
          </a:xfrm>
          <a:prstGeom prst="roundRect">
            <a:avLst>
              <a:gd name="adj" fmla="val 50000"/>
            </a:avLst>
          </a:prstGeom>
          <a:solidFill>
            <a:srgbClr val="530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Призовой фонд 1 500 000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latin typeface="Proxima Nova"/>
                <a:ea typeface="Proxima Nova"/>
                <a:cs typeface="Proxima Nova"/>
                <a:sym typeface="Proxima Nova"/>
              </a:rPr>
              <a:t>ИИшенка на завтрак</a:t>
            </a:r>
            <a:endParaRPr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252175" y="18538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roxima Nova"/>
                <a:ea typeface="Proxima Nova"/>
                <a:cs typeface="Proxima Nova"/>
                <a:sym typeface="Proxima Nova"/>
              </a:rPr>
              <a:t>Research agent + weak model prediction + active learning loop</a:t>
            </a:r>
            <a:endParaRPr sz="18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252175" y="26492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Подход перед хакатоном: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Использование агента для исследований в новой области (полное остутствие экспертизы).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Агент создает связную систему знаний, формирует гипотезы и пишет  дизайны исследований на основе имеющихся данных.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/>
        </p:nvSpPr>
        <p:spPr>
          <a:xfrm>
            <a:off x="316469" y="733439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latin typeface="Proxima Nova"/>
                <a:ea typeface="Proxima Nova"/>
                <a:cs typeface="Proxima Nova"/>
                <a:sym typeface="Proxima Nova"/>
              </a:rPr>
              <a:t>Агент</a:t>
            </a:r>
            <a:endParaRPr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316469" y="1315254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roxima Nova"/>
                <a:ea typeface="Proxima Nova"/>
                <a:cs typeface="Proxima Nova"/>
                <a:sym typeface="Proxima Nova"/>
              </a:rPr>
              <a:t>Brain-like </a:t>
            </a:r>
            <a:r>
              <a:rPr lang="ru-RU" sz="1800" b="1" dirty="0">
                <a:latin typeface="Proxima Nova"/>
                <a:ea typeface="Proxima Nova"/>
                <a:cs typeface="Proxima Nova"/>
                <a:sym typeface="Proxima Nova"/>
              </a:rPr>
              <a:t>+ </a:t>
            </a:r>
            <a:r>
              <a:rPr lang="en-US" sz="1800" b="1" dirty="0">
                <a:latin typeface="Proxima Nova"/>
                <a:ea typeface="Proxima Nova"/>
                <a:cs typeface="Proxima Nova"/>
                <a:sym typeface="Proxima Nova"/>
              </a:rPr>
              <a:t>hypotheses + research design</a:t>
            </a:r>
            <a:endParaRPr sz="18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316469" y="1855762"/>
            <a:ext cx="8384619" cy="2588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Агент: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- формирует связную структуру знаний в выбранной области.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- выписывает концепты и гипотезы.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- формирует дизайны исследований.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- пишет код для реализации дизайн исследования на имеющихся данных.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Результат: 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Proof-of-Concept</a:t>
            </a: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Агент выписал около 200 гипотез, оказалось полезными 5.</a:t>
            </a:r>
            <a:b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b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Brain link: https://github.com/bestetc/ore-structure-brain/tree/main</a:t>
            </a:r>
            <a:endParaRPr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01433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/>
        </p:nvSpPr>
        <p:spPr>
          <a:xfrm>
            <a:off x="252168" y="80010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latin typeface="Proxima Nova"/>
                <a:ea typeface="Proxima Nova"/>
                <a:cs typeface="Proxima Nova"/>
                <a:sym typeface="Proxima Nova"/>
              </a:rPr>
              <a:t>Данные</a:t>
            </a:r>
            <a:endParaRPr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252168" y="1599000"/>
            <a:ext cx="8520350" cy="240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Проблема: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	слабая разметка предоставленных данных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	отсутствие в команде экспертизы для самостоятельной разметки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Решение: 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	- игнорирование разметки в предоставленных данных.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	- обучение модели на открытых данных.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	- получение автоматической разметки.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	- создание инструмета для 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Active learning</a:t>
            </a: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	- доразметка на созданной агентом базы знаний.</a:t>
            </a:r>
            <a:endParaRPr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746301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/>
        </p:nvSpPr>
        <p:spPr>
          <a:xfrm>
            <a:off x="252168" y="80010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latin typeface="Proxima Nova"/>
                <a:ea typeface="Proxima Nova"/>
                <a:cs typeface="Proxima Nova"/>
                <a:sym typeface="Proxima Nova"/>
              </a:rPr>
              <a:t>Открытые данные</a:t>
            </a:r>
            <a:endParaRPr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252168" y="1599000"/>
            <a:ext cx="8520350" cy="240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Датасет: 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https://imaging.cs.msu.ru/en/research/geology/lumenstone</a:t>
            </a:r>
            <a:endParaRPr lang="en-US"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3 </a:t>
            </a: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датасета с разными классами.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Решение: 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- делаем общий датасет со всеми рудами. Добавляем 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resample </a:t>
            </a: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для нивелирования разной представленности классом.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- делаем общий датасет с разбивкой на сульфиды и оксиды.</a:t>
            </a:r>
            <a:endParaRPr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47D91C-B071-4FD2-A2A2-E846BA4CD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1405" y="3705291"/>
            <a:ext cx="4657725" cy="127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38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/>
        </p:nvSpPr>
        <p:spPr>
          <a:xfrm>
            <a:off x="252168" y="800100"/>
            <a:ext cx="8491782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latin typeface="Proxima Nova"/>
                <a:ea typeface="Proxima Nova"/>
                <a:cs typeface="Proxima Nova"/>
                <a:sym typeface="Proxima Nova"/>
              </a:rPr>
              <a:t>Обучение моделей для разметки</a:t>
            </a:r>
            <a:endParaRPr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252168" y="1599000"/>
            <a:ext cx="4084088" cy="240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Unet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+ augmentation.</a:t>
            </a:r>
            <a:b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Loss: CE + Dice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00 </a:t>
            </a: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эпох на датасете с сульфидами и оксидами -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&gt; </a:t>
            </a:r>
            <a:r>
              <a:rPr lang="en-US" sz="1800" dirty="0" err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IoU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– 0,89.</a:t>
            </a:r>
            <a:endParaRPr lang="ru-RU"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1000 эпох на датасете с отдельными рудами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-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&gt; </a:t>
            </a:r>
            <a:r>
              <a:rPr lang="en-US" sz="1800" dirty="0" err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IoU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– 0,88.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2092D-2904-46B5-B35D-8587C93DA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256" y="1491844"/>
            <a:ext cx="2336007" cy="31873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B1F08A-AFA7-4D94-86E1-B25D29C89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669" y="1491843"/>
            <a:ext cx="2239888" cy="318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37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/>
        </p:nvSpPr>
        <p:spPr>
          <a:xfrm>
            <a:off x="252168" y="80010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latin typeface="Proxima Nova"/>
                <a:ea typeface="Proxima Nova"/>
                <a:cs typeface="Proxima Nova"/>
                <a:sym typeface="Proxima Nova"/>
              </a:rPr>
              <a:t>Переход к задаче</a:t>
            </a:r>
            <a:endParaRPr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252168" y="1599000"/>
            <a:ext cx="8520350" cy="240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Разбивка на тип обогатимости руды по форме маски.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Идея: 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https://arxiv.org/pdf/2104.11159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Расчет метрик связности маски и калибровка метрик.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61859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/>
        </p:nvSpPr>
        <p:spPr>
          <a:xfrm>
            <a:off x="252168" y="80010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latin typeface="Proxima Nova"/>
                <a:ea typeface="Proxima Nova"/>
                <a:cs typeface="Proxima Nova"/>
                <a:sym typeface="Proxima Nova"/>
              </a:rPr>
              <a:t>Тальк</a:t>
            </a:r>
            <a:endParaRPr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252168" y="1599000"/>
            <a:ext cx="8520350" cy="240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Проблема: отсутствие точно критерия определения талька при слабой разметке.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Предположение: Руда содежит зерна талька. Это самые темные части участки шлифа на изображении.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Решение: ручной подбор отсечки, меньше которой все пиксели маскируются как тальк.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Используется 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Value </a:t>
            </a: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из 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HSV</a:t>
            </a: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пространства и сумма 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RGB</a:t>
            </a: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b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Реализован инструмент для визуализации и подбора значения.</a:t>
            </a:r>
            <a:endParaRPr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788821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/>
        </p:nvSpPr>
        <p:spPr>
          <a:xfrm>
            <a:off x="252168" y="80010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latin typeface="Proxima Nova"/>
                <a:ea typeface="Proxima Nova"/>
                <a:cs typeface="Proxima Nova"/>
                <a:sym typeface="Proxima Nova"/>
              </a:rPr>
              <a:t>Тальк</a:t>
            </a:r>
            <a:endParaRPr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252168" y="1599000"/>
            <a:ext cx="8520350" cy="240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Картинка</a:t>
            </a:r>
            <a:endParaRPr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946958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/>
        </p:nvSpPr>
        <p:spPr>
          <a:xfrm>
            <a:off x="252168" y="80010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Proxima Nova"/>
                <a:ea typeface="Proxima Nova"/>
                <a:cs typeface="Proxima Nova"/>
                <a:sym typeface="Proxima Nova"/>
              </a:rPr>
              <a:t>Active Learning</a:t>
            </a:r>
            <a:endParaRPr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4638431" y="934632"/>
            <a:ext cx="4062657" cy="1022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Идея: </a:t>
            </a:r>
            <a:r>
              <a:rPr lang="en-US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https://arxiv.org/pdf/2603.13831</a:t>
            </a:r>
            <a:br>
              <a:rPr lang="ru-RU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-US" dirty="0"/>
              <a:t>Efficient Semi-Automated Material Microstructure Analysis Using Deep Learning: A Case Study in Additive Manufacturing</a:t>
            </a:r>
            <a:endParaRPr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720CD2-32A2-4CB2-8ACA-F0A52D041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123" y="1675061"/>
            <a:ext cx="5430289" cy="346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081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/>
        </p:nvSpPr>
        <p:spPr>
          <a:xfrm>
            <a:off x="252168" y="80010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latin typeface="Proxima Nova"/>
                <a:ea typeface="Proxima Nova"/>
                <a:cs typeface="Proxima Nova"/>
                <a:sym typeface="Proxima Nova"/>
              </a:rPr>
              <a:t>Модель для </a:t>
            </a:r>
            <a:r>
              <a:rPr lang="en-US" sz="4000" b="1" dirty="0">
                <a:latin typeface="Proxima Nova"/>
                <a:ea typeface="Proxima Nova"/>
                <a:cs typeface="Proxima Nova"/>
                <a:sym typeface="Proxima Nova"/>
              </a:rPr>
              <a:t>Active Learning</a:t>
            </a:r>
            <a:endParaRPr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252168" y="1599000"/>
            <a:ext cx="4148382" cy="240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CN-</a:t>
            </a:r>
            <a:r>
              <a:rPr lang="en-US" sz="1800" dirty="0" err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Unet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b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-US" sz="1800" dirty="0" err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Endcoder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: Conv + </a:t>
            </a:r>
            <a:r>
              <a:rPr lang="en-US" sz="1800" dirty="0" err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SwinTransformer</a:t>
            </a:r>
            <a:b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Decoder: </a:t>
            </a:r>
            <a:r>
              <a:rPr lang="en-US" sz="1800" dirty="0" err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SwinTransformer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only</a:t>
            </a:r>
            <a:endParaRPr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C52CC7-AFD8-4C36-BCD6-BADC16C51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343" y="1421606"/>
            <a:ext cx="4336033" cy="372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572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latin typeface="Proxima Nova"/>
                <a:ea typeface="Proxima Nova"/>
                <a:cs typeface="Proxima Nova"/>
                <a:sym typeface="Proxima Nova"/>
              </a:rPr>
              <a:t>Данные</a:t>
            </a:r>
            <a:endParaRPr sz="40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252168" y="1890709"/>
            <a:ext cx="8520350" cy="240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Проблема: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	слабая разметка в предоставленных данных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	отсутствие в команде экспертизы для самостоятельной разметки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Решение: </a:t>
            </a:r>
            <a:b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	- игнорирование разметки в предоставленных данных.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	- обучение модели на открытых данных.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	- получение автоматической разметки.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	- создание инструмета для </a:t>
            </a:r>
            <a:r>
              <a:rPr lang="en-US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Active learning</a:t>
            </a:r>
            <a:r>
              <a:rPr lang="ru-RU" sz="18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8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578251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>
                <a:latin typeface="Proxima Nova"/>
                <a:ea typeface="Proxima Nova"/>
                <a:cs typeface="Proxima Nova"/>
                <a:sym typeface="Proxima Nova"/>
              </a:rPr>
              <a:t>ЗАГОЛОВОК</a:t>
            </a:r>
            <a:endParaRPr sz="4000"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" name="Google Shape;41;p9"/>
          <p:cNvSpPr txBox="1"/>
          <p:nvPr/>
        </p:nvSpPr>
        <p:spPr>
          <a:xfrm>
            <a:off x="252175" y="18538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Proxima Nova"/>
                <a:ea typeface="Proxima Nova"/>
                <a:cs typeface="Proxima Nova"/>
                <a:sym typeface="Proxima Nova"/>
              </a:rPr>
              <a:t>Саблайн и описание</a:t>
            </a:r>
            <a:endParaRPr sz="1800"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" name="Google Shape;42;p9"/>
          <p:cNvSpPr txBox="1"/>
          <p:nvPr/>
        </p:nvSpPr>
        <p:spPr>
          <a:xfrm>
            <a:off x="252175" y="26492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3" name="Google Shape;43;p9"/>
          <p:cNvPicPr preferRelativeResize="0"/>
          <p:nvPr/>
        </p:nvPicPr>
        <p:blipFill rotWithShape="1">
          <a:blip r:embed="rId3">
            <a:alphaModFix/>
          </a:blip>
          <a:srcRect l="12553" r="12546"/>
          <a:stretch/>
        </p:blipFill>
        <p:spPr>
          <a:xfrm>
            <a:off x="5764375" y="771753"/>
            <a:ext cx="2696400" cy="3600000"/>
          </a:xfrm>
          <a:prstGeom prst="round2DiagRect">
            <a:avLst>
              <a:gd name="adj1" fmla="val 4278"/>
              <a:gd name="adj2" fmla="val 1279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342000" y="1094400"/>
            <a:ext cx="8460000" cy="3600000"/>
          </a:xfrm>
          <a:prstGeom prst="round2DiagRect">
            <a:avLst>
              <a:gd name="adj1" fmla="val 3636"/>
              <a:gd name="adj2" fmla="val 1327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0"/>
          <p:cNvSpPr txBox="1"/>
          <p:nvPr/>
        </p:nvSpPr>
        <p:spPr>
          <a:xfrm>
            <a:off x="556968" y="13204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>
                <a:latin typeface="Proxima Nova"/>
                <a:ea typeface="Proxima Nova"/>
                <a:cs typeface="Proxima Nova"/>
                <a:sym typeface="Proxima Nova"/>
              </a:rPr>
              <a:t>ЗАГОЛОВОК</a:t>
            </a:r>
            <a:endParaRPr sz="4000"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" name="Google Shape;50;p10"/>
          <p:cNvSpPr txBox="1"/>
          <p:nvPr/>
        </p:nvSpPr>
        <p:spPr>
          <a:xfrm>
            <a:off x="556975" y="20824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Proxima Nova"/>
                <a:ea typeface="Proxima Nova"/>
                <a:cs typeface="Proxima Nova"/>
                <a:sym typeface="Proxima Nova"/>
              </a:rPr>
              <a:t>Саблайн и описание</a:t>
            </a:r>
            <a:endParaRPr sz="1800"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1" name="Google Shape;51;p10"/>
          <p:cNvSpPr txBox="1"/>
          <p:nvPr/>
        </p:nvSpPr>
        <p:spPr>
          <a:xfrm>
            <a:off x="556975" y="28778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" name="Google Shape;52;p10"/>
          <p:cNvSpPr/>
          <p:nvPr/>
        </p:nvSpPr>
        <p:spPr>
          <a:xfrm>
            <a:off x="7062500" y="906700"/>
            <a:ext cx="1341000" cy="413700"/>
          </a:xfrm>
          <a:prstGeom prst="roundRect">
            <a:avLst>
              <a:gd name="adj" fmla="val 50000"/>
            </a:avLst>
          </a:prstGeom>
          <a:solidFill>
            <a:srgbClr val="530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3" name="Google Shape;53;p10"/>
          <p:cNvSpPr/>
          <p:nvPr/>
        </p:nvSpPr>
        <p:spPr>
          <a:xfrm>
            <a:off x="5778400" y="906700"/>
            <a:ext cx="1091400" cy="413700"/>
          </a:xfrm>
          <a:prstGeom prst="roundRect">
            <a:avLst>
              <a:gd name="adj" fmla="val 50000"/>
            </a:avLst>
          </a:prstGeom>
          <a:solidFill>
            <a:srgbClr val="530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/>
          <p:nvPr/>
        </p:nvSpPr>
        <p:spPr>
          <a:xfrm>
            <a:off x="342000" y="1094400"/>
            <a:ext cx="4095000" cy="3600000"/>
          </a:xfrm>
          <a:prstGeom prst="round2DiagRect">
            <a:avLst>
              <a:gd name="adj1" fmla="val 3636"/>
              <a:gd name="adj2" fmla="val 1327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1"/>
          <p:cNvSpPr/>
          <p:nvPr/>
        </p:nvSpPr>
        <p:spPr>
          <a:xfrm>
            <a:off x="4717800" y="1094400"/>
            <a:ext cx="4095000" cy="3600000"/>
          </a:xfrm>
          <a:prstGeom prst="round2DiagRect">
            <a:avLst>
              <a:gd name="adj1" fmla="val 3636"/>
              <a:gd name="adj2" fmla="val 1327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539</Words>
  <Application>Microsoft Office PowerPoint</Application>
  <PresentationFormat>On-screen Show (16:9)</PresentationFormat>
  <Paragraphs>59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Proxima Nova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Cape</dc:creator>
  <cp:lastModifiedBy>Cape</cp:lastModifiedBy>
  <cp:revision>12</cp:revision>
  <dcterms:modified xsi:type="dcterms:W3CDTF">2026-07-04T18:21:58Z</dcterms:modified>
</cp:coreProperties>
</file>